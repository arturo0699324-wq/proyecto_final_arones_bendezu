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BEFF"/>
                </a:solidFill>
                <a:latin typeface="Aptos"/>
              </a:rPr>
              <a:t>QA • DEMOBLAZE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667512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Casos de Prueba,</a:t>
            </a:r>
            <a:br/>
            <a:r>
              <a:rPr sz="3100" b="1">
                <a:solidFill>
                  <a:srgbClr val="FFFFFF"/>
                </a:solidFill>
                <a:latin typeface="Aptos"/>
              </a:rPr>
              <a:t>Cobertura y</a:t>
            </a:r>
            <a:br/>
            <a:r>
              <a:rPr sz="3100" b="1">
                <a:solidFill>
                  <a:srgbClr val="FFFFFF"/>
                </a:solidFill>
                <a:latin typeface="Aptos"/>
              </a:rPr>
              <a:t>Reporte de Defectos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593592"/>
            <a:ext cx="4846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D2E1F4"/>
                </a:solidFill>
                <a:latin typeface="Aptos"/>
              </a:rPr>
              <a:t>Campo evaluado: CREDITCARD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05072"/>
            <a:ext cx="7040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EC1DA"/>
                </a:solidFill>
                <a:latin typeface="Aptos"/>
              </a:rPr>
              <a:t>Pruebas ejecutadas en el flujo real de compra “Place Order”.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4709160"/>
            <a:ext cx="1353312" cy="932688"/>
          </a:xfrm>
          <a:prstGeom prst="roundRect">
            <a:avLst/>
          </a:prstGeom>
          <a:solidFill>
            <a:srgbClr val="0D2341"/>
          </a:solidFill>
          <a:ln w="12700">
            <a:solidFill>
              <a:srgbClr val="0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4800600"/>
            <a:ext cx="13533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BEFF"/>
                </a:solidFill>
                <a:latin typeface="Aptos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184648"/>
            <a:ext cx="1353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1992" y="4709160"/>
            <a:ext cx="1353312" cy="932688"/>
          </a:xfrm>
          <a:prstGeom prst="roundRect">
            <a:avLst/>
          </a:prstGeom>
          <a:solidFill>
            <a:srgbClr val="0D2341"/>
          </a:solidFill>
          <a:ln w="12700">
            <a:solidFill>
              <a:srgbClr val="14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1992" y="4800600"/>
            <a:ext cx="13533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4BE6E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5184648"/>
            <a:ext cx="1353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22191" y="4709160"/>
            <a:ext cx="1353312" cy="932688"/>
          </a:xfrm>
          <a:prstGeom prst="roundRect">
            <a:avLst/>
          </a:prstGeom>
          <a:solidFill>
            <a:srgbClr val="0D2341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1" y="4800600"/>
            <a:ext cx="13533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F4444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5184648"/>
            <a:ext cx="1353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22392" y="4709160"/>
            <a:ext cx="1353312" cy="932688"/>
          </a:xfrm>
          <a:prstGeom prst="roundRect">
            <a:avLst/>
          </a:prstGeom>
          <a:solidFill>
            <a:srgbClr val="0D234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4800600"/>
            <a:ext cx="13533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8B5CF6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5184648"/>
            <a:ext cx="1353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DEFECTOS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051560"/>
            <a:ext cx="2788920" cy="4480560"/>
          </a:xfrm>
          <a:prstGeom prst="roundRect">
            <a:avLst/>
          </a:prstGeom>
          <a:solidFill>
            <a:srgbClr val="0D2341"/>
          </a:solidFill>
          <a:ln w="12700">
            <a:solidFill>
              <a:srgbClr val="0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8048" y="1417320"/>
            <a:ext cx="1005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00BEFF"/>
                </a:solidFill>
                <a:latin typeface="Aptos"/>
              </a:rPr>
              <a:t>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33172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BEFF"/>
                </a:solidFill>
                <a:latin typeface="Aptos"/>
              </a:rPr>
              <a:t>Flujo analizado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788920"/>
            <a:ext cx="21945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Agregar producto</a:t>
            </a:r>
            <a:br/>
            <a:r>
              <a:rPr sz="1800" b="1">
                <a:solidFill>
                  <a:srgbClr val="FFFFFF"/>
                </a:solidFill>
                <a:latin typeface="Aptos"/>
              </a:rPr>
              <a:t>→ Cart</a:t>
            </a:r>
            <a:br/>
            <a:r>
              <a:rPr sz="1800" b="1">
                <a:solidFill>
                  <a:srgbClr val="FFFFFF"/>
                </a:solidFill>
                <a:latin typeface="Aptos"/>
              </a:rPr>
              <a:t>→ Place Order</a:t>
            </a:r>
            <a:br/>
            <a:r>
              <a:rPr sz="1800" b="1">
                <a:solidFill>
                  <a:srgbClr val="FFFFFF"/>
                </a:solidFill>
                <a:latin typeface="Aptos"/>
              </a:rPr>
              <a:t>→ Purchase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846320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BCDE5"/>
                </a:solidFill>
                <a:latin typeface="Aptos"/>
              </a:rPr>
              <a:t>SUT: demoblaze.com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BEFF"/>
                </a:solidFill>
                <a:latin typeface="Aptos"/>
              </a:rPr>
              <a:t>PASO 1 • ANÁLISIS DEL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1E32"/>
                </a:solidFill>
                <a:latin typeface="Aptos"/>
              </a:rPr>
              <a:t>Regla de Prueba y Clases de Equivalencia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55680" cy="749808"/>
          </a:xfrm>
          <a:prstGeom prst="round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45336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BEFF"/>
                </a:solidFill>
                <a:latin typeface="Aptos"/>
              </a:rPr>
              <a:t>REGLA DEFINIDA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508760"/>
            <a:ext cx="8823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Creditcard debe recibir exactamente 16 dígitos numéricos, sin letras, símbolos ni espacios.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87168"/>
            <a:ext cx="1993392" cy="2331720"/>
          </a:xfrm>
          <a:prstGeom prst="roundRect">
            <a:avLst/>
          </a:prstGeom>
          <a:solidFill>
            <a:srgbClr val="E2FAEF"/>
          </a:solidFill>
          <a:ln w="12700">
            <a:solidFill>
              <a:srgbClr val="14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670048"/>
            <a:ext cx="530352" cy="310896"/>
          </a:xfrm>
          <a:prstGeom prst="roundRect">
            <a:avLst/>
          </a:prstGeom>
          <a:solidFill>
            <a:srgbClr val="14B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5303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CE1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670048"/>
            <a:ext cx="1024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BE6E"/>
                </a:solidFill>
                <a:latin typeface="Aptos"/>
              </a:rPr>
              <a:t>VÁLIDA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4612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E32"/>
                </a:solidFill>
                <a:latin typeface="Aptos"/>
              </a:rPr>
              <a:t>16 dígitos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79476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F6E82"/>
                </a:solidFill>
                <a:latin typeface="Aptos"/>
              </a:rPr>
              <a:t>4111222233334444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487168"/>
            <a:ext cx="1993392" cy="23317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07792" y="2670048"/>
            <a:ext cx="530352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2" y="2670048"/>
            <a:ext cx="5303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CE2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670048"/>
            <a:ext cx="1024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INVÁLIDA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324612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E32"/>
                </a:solidFill>
                <a:latin typeface="Aptos"/>
              </a:rPr>
              <a:t>&lt; 16 dígitos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379476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F6E82"/>
                </a:solidFill>
                <a:latin typeface="Aptos"/>
              </a:rPr>
              <a:t>15 dígitos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487168"/>
            <a:ext cx="1993392" cy="2331720"/>
          </a:xfrm>
          <a:prstGeom prst="roundRect">
            <a:avLst/>
          </a:prstGeom>
          <a:solidFill>
            <a:srgbClr val="FFF7D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48072" y="2670048"/>
            <a:ext cx="530352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8072" y="2670048"/>
            <a:ext cx="5303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CE3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1576" y="2670048"/>
            <a:ext cx="1024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INVÁLIDA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324612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E32"/>
                </a:solidFill>
                <a:latin typeface="Aptos"/>
              </a:rPr>
              <a:t>&gt; 16 dígitos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379476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F6E82"/>
                </a:solidFill>
                <a:latin typeface="Aptos"/>
              </a:rPr>
              <a:t>17 dígitos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2487168"/>
            <a:ext cx="1993392" cy="2331720"/>
          </a:xfrm>
          <a:prstGeom prst="roundRect">
            <a:avLst/>
          </a:prstGeom>
          <a:solidFill>
            <a:srgbClr val="FFE8E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88352" y="2670048"/>
            <a:ext cx="530352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670048"/>
            <a:ext cx="5303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CE4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2670048"/>
            <a:ext cx="1024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tos"/>
              </a:rPr>
              <a:t>INVÁLIDA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324612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E32"/>
                </a:solidFill>
                <a:latin typeface="Aptos"/>
              </a:rPr>
              <a:t>Formato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379476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F6E82"/>
                </a:solidFill>
                <a:latin typeface="Aptos"/>
              </a:rPr>
              <a:t>letras / símbolos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64040" y="2487168"/>
            <a:ext cx="1993392" cy="2331720"/>
          </a:xfrm>
          <a:prstGeom prst="roundRect">
            <a:avLst/>
          </a:prstGeom>
          <a:solidFill>
            <a:srgbClr val="F1EB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28632" y="2670048"/>
            <a:ext cx="530352" cy="31089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8632" y="2670048"/>
            <a:ext cx="5303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CE5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32136" y="2670048"/>
            <a:ext cx="1024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Aptos"/>
              </a:rPr>
              <a:t>INVÁLIDA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8632" y="324612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E32"/>
                </a:solidFill>
                <a:latin typeface="Aptos"/>
              </a:rPr>
              <a:t>Vacío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8632" y="379476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F6E82"/>
                </a:solidFill>
                <a:latin typeface="Aptos"/>
              </a:rPr>
              <a:t>sin dato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230368"/>
            <a:ext cx="11155680" cy="713232"/>
          </a:xfrm>
          <a:prstGeom prst="roundRect">
            <a:avLst/>
          </a:prstGeom>
          <a:solidFill>
            <a:srgbClr val="0D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413248"/>
            <a:ext cx="1508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BEFF"/>
                </a:solidFill>
                <a:latin typeface="Aptos"/>
              </a:rPr>
              <a:t>VALORES LÍMITE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34640" y="5376672"/>
            <a:ext cx="530352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5376672"/>
            <a:ext cx="5303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539496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inferior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2040" y="5376672"/>
            <a:ext cx="530352" cy="310896"/>
          </a:xfrm>
          <a:prstGeom prst="roundRect">
            <a:avLst/>
          </a:prstGeom>
          <a:solidFill>
            <a:srgbClr val="14B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5376672"/>
            <a:ext cx="5303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50407" y="539496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exacto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5376672"/>
            <a:ext cx="530352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5376672"/>
            <a:ext cx="5303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7808" y="539496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superior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BEFF"/>
                </a:solidFill>
                <a:latin typeface="Aptos"/>
              </a:rPr>
              <a:t>PASO 2 • DISEÑO Y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1E32"/>
                </a:solidFill>
                <a:latin typeface="Aptos"/>
              </a:rPr>
              <a:t>8 escenarios ejecutados en DemoBlaze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33271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F6E82"/>
                </a:solidFill>
                <a:latin typeface="Aptos"/>
              </a:rPr>
              <a:t>PASS = comportamiento esperado • FAIL = comportamiento distinto al esperado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62763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5669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174FF"/>
                </a:solidFill>
                <a:latin typeface="Apto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572768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F6E82"/>
                </a:solidFill>
                <a:latin typeface="Aptos"/>
              </a:rPr>
              <a:t>TOTAL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39" y="1417320"/>
            <a:ext cx="162763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490472"/>
            <a:ext cx="5669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4BE6E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7" y="1572768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F6E82"/>
                </a:solidFill>
                <a:latin typeface="Aptos"/>
              </a:rPr>
              <a:t>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1417320"/>
            <a:ext cx="162763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490472"/>
            <a:ext cx="5669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F4444"/>
                </a:solidFill>
                <a:latin typeface="Aptos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1572768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F6E82"/>
                </a:solidFill>
                <a:latin typeface="Aptos"/>
              </a:rPr>
              <a:t>FAIL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1417320"/>
            <a:ext cx="162763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1490472"/>
            <a:ext cx="5669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8B5CF6"/>
                </a:solidFill>
                <a:latin typeface="Aptos"/>
              </a:rPr>
              <a:t>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7" y="1572768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F6E82"/>
                </a:solidFill>
                <a:latin typeface="Aptos"/>
              </a:rPr>
              <a:t>FAIL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423160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" y="2606040"/>
            <a:ext cx="713232" cy="310896"/>
          </a:xfrm>
          <a:prstGeom prst="roundRect">
            <a:avLst/>
          </a:prstGeom>
          <a:solidFill>
            <a:srgbClr val="2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606040"/>
            <a:ext cx="713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ESC-01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496312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1E32"/>
                </a:solidFill>
                <a:latin typeface="Aptos"/>
              </a:rPr>
              <a:t>16 dígitos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70632"/>
            <a:ext cx="2926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E82"/>
                </a:solidFill>
                <a:latin typeface="Courier New"/>
              </a:rPr>
              <a:t>4111222233334444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2606040"/>
            <a:ext cx="749808" cy="310896"/>
          </a:xfrm>
          <a:prstGeom prst="roundRect">
            <a:avLst/>
          </a:prstGeom>
          <a:solidFill>
            <a:srgbClr val="14B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606040"/>
            <a:ext cx="749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423160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4496" y="2606040"/>
            <a:ext cx="713232" cy="310896"/>
          </a:xfrm>
          <a:prstGeom prst="roundRect">
            <a:avLst/>
          </a:prstGeom>
          <a:solidFill>
            <a:srgbClr val="2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2606040"/>
            <a:ext cx="713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ESC-02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496312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1E32"/>
                </a:solidFill>
                <a:latin typeface="Aptos"/>
              </a:rPr>
              <a:t>15 dígitos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770632"/>
            <a:ext cx="2926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E82"/>
                </a:solidFill>
                <a:latin typeface="Courier New"/>
              </a:rPr>
              <a:t>123456781234567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2606040"/>
            <a:ext cx="749808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2606040"/>
            <a:ext cx="749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319272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0936" y="3502152"/>
            <a:ext cx="713232" cy="310896"/>
          </a:xfrm>
          <a:prstGeom prst="roundRect">
            <a:avLst/>
          </a:prstGeom>
          <a:solidFill>
            <a:srgbClr val="2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3502152"/>
            <a:ext cx="713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ESC-03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392424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1E32"/>
                </a:solidFill>
                <a:latin typeface="Aptos"/>
              </a:rPr>
              <a:t>17 dígitos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3666744"/>
            <a:ext cx="2926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E82"/>
                </a:solidFill>
                <a:latin typeface="Courier New"/>
              </a:rPr>
              <a:t>12345678123456789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0600" y="3502152"/>
            <a:ext cx="749808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3502152"/>
            <a:ext cx="749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FAIL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319272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54496" y="3502152"/>
            <a:ext cx="713232" cy="310896"/>
          </a:xfrm>
          <a:prstGeom prst="roundRect">
            <a:avLst/>
          </a:prstGeom>
          <a:solidFill>
            <a:srgbClr val="2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3502152"/>
            <a:ext cx="713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ESC-04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392424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1E32"/>
                </a:solidFill>
                <a:latin typeface="Aptos"/>
              </a:rPr>
              <a:t>Texto alfabético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3666744"/>
            <a:ext cx="2926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E82"/>
                </a:solidFill>
                <a:latin typeface="Courier New"/>
              </a:rPr>
              <a:t>tarjetadeprueba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24160" y="3502152"/>
            <a:ext cx="749808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24160" y="3502152"/>
            <a:ext cx="749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FAIL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4215383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" y="4398264"/>
            <a:ext cx="713232" cy="310896"/>
          </a:xfrm>
          <a:prstGeom prst="roundRect">
            <a:avLst/>
          </a:prstGeom>
          <a:solidFill>
            <a:srgbClr val="2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4398264"/>
            <a:ext cx="713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ESC-05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4288536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1E32"/>
                </a:solidFill>
                <a:latin typeface="Aptos"/>
              </a:rPr>
              <a:t>Caracteres especiales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4562855"/>
            <a:ext cx="2926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E82"/>
                </a:solidFill>
                <a:latin typeface="Courier New"/>
              </a:rPr>
              <a:t>1234-5678-9012!#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00600" y="4398264"/>
            <a:ext cx="749808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0600" y="4398264"/>
            <a:ext cx="749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FAIL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26480" y="4215383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54496" y="4398264"/>
            <a:ext cx="713232" cy="310896"/>
          </a:xfrm>
          <a:prstGeom prst="roundRect">
            <a:avLst/>
          </a:prstGeom>
          <a:solidFill>
            <a:srgbClr val="2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54496" y="4398264"/>
            <a:ext cx="713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ESC-06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4288536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1E32"/>
                </a:solidFill>
                <a:latin typeface="Aptos"/>
              </a:rPr>
              <a:t>Campo vacío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600" y="4562855"/>
            <a:ext cx="2926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E82"/>
                </a:solidFill>
                <a:latin typeface="Courier New"/>
              </a:rPr>
              <a:t>(vacío)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424160" y="4398264"/>
            <a:ext cx="749808" cy="310896"/>
          </a:xfrm>
          <a:prstGeom prst="roundRect">
            <a:avLst/>
          </a:prstGeom>
          <a:solidFill>
            <a:srgbClr val="14B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60" y="4398264"/>
            <a:ext cx="749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5111496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0936" y="5294376"/>
            <a:ext cx="713232" cy="310896"/>
          </a:xfrm>
          <a:prstGeom prst="roundRect">
            <a:avLst/>
          </a:prstGeom>
          <a:solidFill>
            <a:srgbClr val="2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" y="5294376"/>
            <a:ext cx="713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ESC-07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63040" y="5184648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1E32"/>
                </a:solidFill>
                <a:latin typeface="Aptos"/>
              </a:rPr>
              <a:t>Espacios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63040" y="5458968"/>
            <a:ext cx="2926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E82"/>
                </a:solidFill>
                <a:latin typeface="Courier New"/>
              </a:rPr>
              <a:t> 4111222233334444 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800600" y="5294376"/>
            <a:ext cx="749808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600" y="5294376"/>
            <a:ext cx="749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FAIL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26480" y="5111496"/>
            <a:ext cx="5285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254496" y="5294376"/>
            <a:ext cx="713232" cy="310896"/>
          </a:xfrm>
          <a:prstGeom prst="roundRect">
            <a:avLst/>
          </a:prstGeom>
          <a:solidFill>
            <a:srgbClr val="2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54496" y="5294376"/>
            <a:ext cx="713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ESC-08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86600" y="5184648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1E32"/>
                </a:solidFill>
                <a:latin typeface="Aptos"/>
              </a:rPr>
              <a:t>SQL básica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86600" y="5458968"/>
            <a:ext cx="2926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E82"/>
                </a:solidFill>
                <a:latin typeface="Courier New"/>
              </a:rPr>
              <a:t>' OR '1'='1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424160" y="5294376"/>
            <a:ext cx="749808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424160" y="5294376"/>
            <a:ext cx="749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FAIL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614476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Aptos"/>
              </a:rPr>
              <a:t>Hallazgo general: 6 de 8 escenarios no coincidieron con el comportamiento esperado.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BEFF"/>
                </a:solidFill>
                <a:latin typeface="Aptos"/>
              </a:rPr>
              <a:t>PASO 3 • REPORTE Y 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1E32"/>
                </a:solidFill>
                <a:latin typeface="Aptos"/>
              </a:rPr>
              <a:t>Defecto #1 — Acepta tarjeta de 15 dígitos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576072"/>
            <a:ext cx="141732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576072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SEVERIDAD 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576072"/>
            <a:ext cx="141732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576072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PRIORIDAD ALTA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3703320" cy="4526280"/>
          </a:xfrm>
          <a:prstGeom prst="round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74519"/>
            <a:ext cx="1051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EF4444"/>
                </a:solidFill>
                <a:latin typeface="Aptos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DÍGITOS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82112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BEFF"/>
                </a:solidFill>
                <a:latin typeface="Aptos"/>
              </a:rPr>
              <a:t>Resultado observado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84448"/>
            <a:ext cx="3017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La orden se procesa</a:t>
            </a:r>
            <a:br/>
            <a:r>
              <a:rPr sz="1900" b="1">
                <a:solidFill>
                  <a:srgbClr val="FFFFFF"/>
                </a:solidFill>
                <a:latin typeface="Aptos"/>
              </a:rPr>
              <a:t>y aparece la confirmación</a:t>
            </a:r>
            <a:br/>
            <a:r>
              <a:rPr sz="1900" b="1">
                <a:solidFill>
                  <a:srgbClr val="FFFFFF"/>
                </a:solidFill>
                <a:latin typeface="Aptos"/>
              </a:rPr>
              <a:t>de compra.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7048" y="5074920"/>
            <a:ext cx="160020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7048" y="5074920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389888"/>
            <a:ext cx="71780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627632"/>
            <a:ext cx="2377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174FF"/>
                </a:solidFill>
                <a:latin typeface="Aptos"/>
              </a:rPr>
              <a:t>PASOS PARA REPRODUCIR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965960"/>
            <a:ext cx="6217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21E32"/>
                </a:solidFill>
                <a:latin typeface="Aptos"/>
              </a:rPr>
              <a:t>1. Agregar producto al carrito</a:t>
            </a:r>
            <a:br/>
            <a:r>
              <a:rPr sz="1300" b="0">
                <a:solidFill>
                  <a:srgbClr val="121E32"/>
                </a:solidFill>
                <a:latin typeface="Aptos"/>
              </a:rPr>
              <a:t>2. Cart → Place Order</a:t>
            </a:r>
            <a:br/>
            <a:r>
              <a:rPr sz="1300" b="0">
                <a:solidFill>
                  <a:srgbClr val="121E32"/>
                </a:solidFill>
                <a:latin typeface="Aptos"/>
              </a:rPr>
              <a:t>3. Name + Creditcard: 123456781234567</a:t>
            </a:r>
            <a:br/>
            <a:r>
              <a:rPr sz="1300" b="0">
                <a:solidFill>
                  <a:srgbClr val="121E32"/>
                </a:solidFill>
                <a:latin typeface="Aptos"/>
              </a:rPr>
              <a:t>4. Pulsar Purchase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529584"/>
            <a:ext cx="3401568" cy="1874519"/>
          </a:xfrm>
          <a:prstGeom prst="roundRect">
            <a:avLst/>
          </a:prstGeom>
          <a:solidFill>
            <a:srgbClr val="E2FAEF"/>
          </a:solidFill>
          <a:ln w="12700">
            <a:solidFill>
              <a:srgbClr val="14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3767328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BE6E"/>
                </a:solidFill>
                <a:latin typeface="Aptos"/>
              </a:rPr>
              <a:t>ESPERADO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133087"/>
            <a:ext cx="2834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21E32"/>
                </a:solidFill>
                <a:latin typeface="Aptos"/>
              </a:rPr>
              <a:t>Rechazar la compra porque la regla exige exactamente 16 dígitos.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3529584"/>
            <a:ext cx="3593592" cy="1874519"/>
          </a:xfrm>
          <a:prstGeom prst="roundRect">
            <a:avLst/>
          </a:prstGeom>
          <a:solidFill>
            <a:srgbClr val="FFE8E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767328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tos"/>
              </a:rPr>
              <a:t>OBTENIDO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133087"/>
            <a:ext cx="2971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21E32"/>
                </a:solidFill>
                <a:latin typeface="Aptos"/>
              </a:rPr>
              <a:t>Acepta el valor y muestra “Thank you for your purchase!”.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715000"/>
            <a:ext cx="6903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F6E82"/>
                </a:solidFill>
                <a:latin typeface="Aptos"/>
              </a:rPr>
              <a:t>Justificación: permite finalizar el flujo con un dato que incumple la regla definida.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BEFF"/>
                </a:solidFill>
                <a:latin typeface="Aptos"/>
              </a:rPr>
              <a:t>PASO 3 • REPORTE Y 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1E32"/>
                </a:solidFill>
                <a:latin typeface="Aptos"/>
              </a:rPr>
              <a:t>Defecto #2 — Acepta texto y caracteres especiales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576072"/>
            <a:ext cx="160020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576072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SEVERIDAD MEDIA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576072"/>
            <a:ext cx="160020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576072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PRIORIDAD MEDIA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89888"/>
            <a:ext cx="3703320" cy="4526280"/>
          </a:xfrm>
          <a:prstGeom prst="round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8B5CF6"/>
                </a:solidFill>
                <a:latin typeface="Aptos"/>
              </a:rPr>
              <a:t>ABC!#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87752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FORMATO INVÁLIDO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82112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BEFF"/>
                </a:solidFill>
                <a:latin typeface="Aptos"/>
              </a:rPr>
              <a:t>Resultado observado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84448"/>
            <a:ext cx="3017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La compra se procesa</a:t>
            </a:r>
            <a:br/>
            <a:r>
              <a:rPr sz="1900" b="1">
                <a:solidFill>
                  <a:srgbClr val="FFFFFF"/>
                </a:solidFill>
                <a:latin typeface="Aptos"/>
              </a:rPr>
              <a:t>y el recibo conserva</a:t>
            </a:r>
            <a:br/>
            <a:r>
              <a:rPr sz="1900" b="1">
                <a:solidFill>
                  <a:srgbClr val="FFFFFF"/>
                </a:solidFill>
                <a:latin typeface="Aptos"/>
              </a:rPr>
              <a:t>el valor ingresado.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7048" y="5074920"/>
            <a:ext cx="160020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7048" y="5074920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389888"/>
            <a:ext cx="71780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627632"/>
            <a:ext cx="2377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174FF"/>
                </a:solidFill>
                <a:latin typeface="Aptos"/>
              </a:rPr>
              <a:t>PASOS PARA REPRODUCIR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965960"/>
            <a:ext cx="6217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21E32"/>
                </a:solidFill>
                <a:latin typeface="Aptos"/>
              </a:rPr>
              <a:t>1. Agregar producto → Cart</a:t>
            </a:r>
            <a:br/>
            <a:r>
              <a:rPr sz="1300" b="0">
                <a:solidFill>
                  <a:srgbClr val="121E32"/>
                </a:solidFill>
                <a:latin typeface="Aptos"/>
              </a:rPr>
              <a:t>2. Place Order</a:t>
            </a:r>
            <a:br/>
            <a:r>
              <a:rPr sz="1300" b="0">
                <a:solidFill>
                  <a:srgbClr val="121E32"/>
                </a:solidFill>
                <a:latin typeface="Aptos"/>
              </a:rPr>
              <a:t>3. Creditcard: TARJETA-INVALIDA!</a:t>
            </a:r>
            <a:br/>
            <a:r>
              <a:rPr sz="1300" b="0">
                <a:solidFill>
                  <a:srgbClr val="121E32"/>
                </a:solidFill>
                <a:latin typeface="Aptos"/>
              </a:rPr>
              <a:t>4. Pulsar Purchase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529584"/>
            <a:ext cx="3401568" cy="1874519"/>
          </a:xfrm>
          <a:prstGeom prst="roundRect">
            <a:avLst/>
          </a:prstGeom>
          <a:solidFill>
            <a:srgbClr val="E2FAEF"/>
          </a:solidFill>
          <a:ln w="12700">
            <a:solidFill>
              <a:srgbClr val="14B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3767328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4BE6E"/>
                </a:solidFill>
                <a:latin typeface="Aptos"/>
              </a:rPr>
              <a:t>ESPERADO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133087"/>
            <a:ext cx="2834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21E32"/>
                </a:solidFill>
                <a:latin typeface="Aptos"/>
              </a:rPr>
              <a:t>Rechazar la entrada e indicar que el campo admite solo números.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3529584"/>
            <a:ext cx="3593592" cy="1874519"/>
          </a:xfrm>
          <a:prstGeom prst="roundRect">
            <a:avLst/>
          </a:prstGeom>
          <a:solidFill>
            <a:srgbClr val="FFE8E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767328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tos"/>
              </a:rPr>
              <a:t>OBTENIDO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133087"/>
            <a:ext cx="2971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21E32"/>
                </a:solidFill>
                <a:latin typeface="Aptos"/>
              </a:rPr>
              <a:t>Procesa la compra sin validar el formato del campo.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715000"/>
            <a:ext cx="6903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F6E82"/>
                </a:solidFill>
                <a:latin typeface="Aptos"/>
              </a:rPr>
              <a:t>Justificación: el flujo acepta y procesa un formato que no cumple la regla de prueba.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BEFF"/>
                </a:solidFill>
                <a:latin typeface="Aptos"/>
              </a:rPr>
              <a:t>PASO 4 • VALIDACIÓN DE COBERTURA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1E32"/>
                </a:solidFill>
                <a:latin typeface="Aptos"/>
              </a:rPr>
              <a:t>Cobertura, revisión con IA y entrega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3657600" cy="4526280"/>
          </a:xfrm>
          <a:prstGeom prst="round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BEFF"/>
                </a:solidFill>
                <a:latin typeface="Aptos"/>
              </a:rPr>
              <a:t>COBERTURA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4BE6E"/>
                </a:solidFill>
                <a:latin typeface="Aptos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clases CE1–CE5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2174FF"/>
                </a:solidFill>
                <a:latin typeface="Aptos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límites 15 • 16 •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4892040"/>
            <a:ext cx="1078992" cy="310896"/>
          </a:xfrm>
          <a:prstGeom prst="roundRect">
            <a:avLst/>
          </a:prstGeom>
          <a:solidFill>
            <a:srgbClr val="14B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10789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4892040"/>
            <a:ext cx="1078992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4892040"/>
            <a:ext cx="10789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 FAIL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389888"/>
            <a:ext cx="3474720" cy="288036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0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682496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74FF"/>
                </a:solidFill>
                <a:latin typeface="Aptos"/>
              </a:rPr>
              <a:t>🤖  REVISIÓN CON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148840"/>
            <a:ext cx="274320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21E32"/>
                </a:solidFill>
                <a:latin typeface="Aptos"/>
              </a:rPr>
              <a:t>La cobertura incluye clases válidas e inválidas y los valores límite. Se recomienda mantener pruebas con espacios, caracteres especiales y entradas alfanuméricas para reforzar la validación del formato.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89888"/>
            <a:ext cx="3520440" cy="2880360"/>
          </a:xfrm>
          <a:prstGeom prst="roundRect">
            <a:avLst/>
          </a:prstGeom>
          <a:solidFill>
            <a:srgbClr val="F1EB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82496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Aptos"/>
              </a:rPr>
              <a:t>💡  CONCLUSIÓN 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48840"/>
            <a:ext cx="274320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21E32"/>
                </a:solidFill>
                <a:latin typeface="Aptos"/>
              </a:rPr>
              <a:t>Los FAIL indican diferencias entre el resultado esperado y el observado. Varios FAIL pueden estar relacionados con una misma causa: ausencia o debilidad de validación del campo Creditcard.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526280"/>
            <a:ext cx="7223760" cy="1389888"/>
          </a:xfrm>
          <a:prstGeom prst="round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4754880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BEFF"/>
                </a:solidFill>
                <a:latin typeface="Aptos"/>
              </a:rPr>
              <a:t>ENTREGA EN GIT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13892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urier New"/>
              </a:rPr>
              <a:t>docs/casos-manuales-v1.md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513832"/>
            <a:ext cx="6446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C2D2E9"/>
                </a:solidFill>
                <a:latin typeface="Courier New"/>
              </a:rPr>
              <a:t>git add docs/casos-manuales-v1.md   •   git commit -m "docs: agregar casos y defectos"   •   git push origin 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